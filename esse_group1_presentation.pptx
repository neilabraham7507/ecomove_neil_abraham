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F4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ECOMOVE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738360" y="649224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College Project Prototype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877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877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58368" y="12344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D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EcoMove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201168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1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 Waste Pickup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1621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Transportation System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3364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6B4F"/>
                </a:solidFill>
              </a:rPr>
              <a:t>Organize. Book. Recycle.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58368" y="3858768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B665F"/>
                </a:solidFill>
              </a:rPr>
              <a:t>A student project prototype designed to improve waste segregation, pickup booking, and transportation coordination.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4754880"/>
            <a:ext cx="2011680" cy="310896"/>
          </a:xfrm>
          <a:prstGeom prst="roundRect">
            <a:avLst>
              <a:gd name="adj" fmla="val 44118"/>
            </a:avLst>
          </a:prstGeom>
          <a:solidFill>
            <a:srgbClr val="DDEBDF"/>
          </a:solidFill>
          <a:ln w="12700">
            <a:solidFill>
              <a:srgbClr val="DDEBD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04088" y="4832604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F4D3A"/>
                </a:solidFill>
              </a:rPr>
              <a:t>College Project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2761488" y="4754880"/>
            <a:ext cx="2286000" cy="310896"/>
          </a:xfrm>
          <a:prstGeom prst="roundRect">
            <a:avLst>
              <a:gd name="adj" fmla="val 44118"/>
            </a:avLst>
          </a:prstGeom>
          <a:solidFill>
            <a:srgbClr val="DDEBDF"/>
          </a:solidFill>
          <a:ln w="12700">
            <a:solidFill>
              <a:srgbClr val="DDEBD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807208" y="4832604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F4D3A"/>
                </a:solidFill>
              </a:rPr>
              <a:t>Waste Management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8549640" y="1143000"/>
            <a:ext cx="23317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9E7D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0" y="13990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D3A"/>
                </a:solidFill>
              </a:rPr>
              <a:t>WET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122408" y="1298448"/>
            <a:ext cx="502920" cy="50292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4C9A6A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549640" y="2221992"/>
            <a:ext cx="23317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9E7D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0" y="247802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D3A"/>
                </a:solidFill>
              </a:rPr>
              <a:t>DRY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122408" y="2377440"/>
            <a:ext cx="502920" cy="50292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4C9A6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549640" y="3300984"/>
            <a:ext cx="23317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9E7D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86800" y="355701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D3A"/>
                </a:solidFill>
              </a:rPr>
              <a:t>RECYCLE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122408" y="3456432"/>
            <a:ext cx="502920" cy="50292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4C9A6A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549640" y="4379976"/>
            <a:ext cx="2331720" cy="786384"/>
          </a:xfrm>
          <a:prstGeom prst="roundRect">
            <a:avLst>
              <a:gd name="adj" fmla="val 9302"/>
            </a:avLst>
          </a:prstGeom>
          <a:solidFill>
            <a:srgbClr val="B5562D"/>
          </a:solidFill>
          <a:ln w="12700">
            <a:solidFill>
              <a:srgbClr val="B5562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0" y="463600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E-WASTE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122408" y="4535424"/>
            <a:ext cx="502920" cy="50292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F4D6C7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549640" y="55595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EBDF"/>
                </a:solidFill>
              </a:rPr>
              <a:t>From source segregation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DEBDF"/>
                </a:solidFill>
              </a:rPr>
              <a:t>to smoother pickup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507492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50" b="1">
                <a:solidFill>
                  <a:srgbClr val="1F4D3A"/>
                </a:solidFill>
                <a:latin typeface="Aptos"/>
              </a:rPr>
              <a:t>TEAM MEMBERS</a:t>
            </a:r>
            <a:endParaRPr lang="en-US" sz="1000" dirty="0"/>
          </a:p>
          <a:p>
            <a:pPr>
              <a:defRPr sz="1150">
                <a:solidFill>
                  <a:srgbClr val="16211C"/>
                </a:solidFill>
                <a:latin typeface="Aptos"/>
              </a:defRPr>
            </a:pPr>
            <a:r>
              <a:rPr sz="1050"/>
              <a:t>NEIL ABRAHAM</a:t>
            </a:r>
          </a:p>
          <a:p>
            <a:pPr>
              <a:defRPr sz="1150">
                <a:solidFill>
                  <a:srgbClr val="16211C"/>
                </a:solidFill>
                <a:latin typeface="Aptos"/>
              </a:defRPr>
            </a:pPr>
            <a:r>
              <a:rPr sz="1050"/>
              <a:t>NIDHIN ANTONY JOJAN</a:t>
            </a:r>
          </a:p>
          <a:p>
            <a:pPr>
              <a:defRPr sz="1150">
                <a:solidFill>
                  <a:srgbClr val="16211C"/>
                </a:solidFill>
                <a:latin typeface="Aptos"/>
              </a:defRPr>
            </a:pPr>
            <a:r>
              <a:rPr sz="1050"/>
              <a:t>NIHAL K NIAZ</a:t>
            </a:r>
          </a:p>
          <a:p>
            <a:pPr>
              <a:defRPr sz="1150">
                <a:solidFill>
                  <a:srgbClr val="16211C"/>
                </a:solidFill>
                <a:latin typeface="Aptos"/>
              </a:defRPr>
            </a:pPr>
            <a:r>
              <a:rPr sz="1050"/>
              <a:t>NIHAL MANUEL</a:t>
            </a:r>
          </a:p>
          <a:p>
            <a:pPr>
              <a:defRPr sz="1150">
                <a:solidFill>
                  <a:srgbClr val="16211C"/>
                </a:solidFill>
                <a:latin typeface="Aptos"/>
              </a:defRPr>
            </a:pPr>
            <a:r>
              <a:rPr sz="1050"/>
              <a:t>NIKITA PRASAD</a:t>
            </a:r>
          </a:p>
          <a:p>
            <a:pPr>
              <a:defRPr sz="1150">
                <a:solidFill>
                  <a:srgbClr val="16211C"/>
                </a:solidFill>
                <a:latin typeface="Aptos"/>
              </a:defRPr>
            </a:pPr>
            <a:r>
              <a:rPr sz="1050"/>
              <a:t>NIKITHA PRAVEEN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6B4F"/>
                </a:solidFill>
                <a:latin typeface="Aptos"/>
              </a:rPr>
              <a:t>01 •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11C"/>
                </a:solidFill>
                <a:latin typeface="Aptos Display"/>
              </a:rPr>
              <a:t>Poor Waste Segregation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6766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B665F"/>
                </a:solidFill>
                <a:latin typeface="Aptos"/>
              </a:rPr>
              <a:t>Waste is often mixed at the source, making collection, transportation and recycling less efficient and less safe.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514600"/>
            <a:ext cx="310896" cy="310896"/>
          </a:xfrm>
          <a:prstGeom prst="roundRect">
            <a:avLst/>
          </a:prstGeom>
          <a:solidFill>
            <a:srgbClr val="DDEBDF"/>
          </a:solidFill>
          <a:ln>
            <a:solidFill>
              <a:srgbClr val="DDE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5603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4D3A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96312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211C"/>
                </a:solidFill>
                <a:latin typeface="Aptos"/>
              </a:rPr>
              <a:t>Mixed waste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61488" y="2478024"/>
            <a:ext cx="4526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B665F"/>
                </a:solidFill>
                <a:latin typeface="Aptos"/>
              </a:rPr>
              <a:t>Wet, dry, recyclable and e-waste are often combined.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264408"/>
            <a:ext cx="310896" cy="310896"/>
          </a:xfrm>
          <a:prstGeom prst="roundRect">
            <a:avLst/>
          </a:prstGeom>
          <a:solidFill>
            <a:srgbClr val="DDEBDF"/>
          </a:solidFill>
          <a:ln>
            <a:solidFill>
              <a:srgbClr val="DDE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310127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4D3A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246120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211C"/>
                </a:solidFill>
                <a:latin typeface="Aptos"/>
              </a:rPr>
              <a:t>Contamination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3227832"/>
            <a:ext cx="4526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B665F"/>
                </a:solidFill>
                <a:latin typeface="Aptos"/>
              </a:rPr>
              <a:t>Food and liquid can spoil otherwise recyclable materials.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014215"/>
            <a:ext cx="310896" cy="310896"/>
          </a:xfrm>
          <a:prstGeom prst="roundRect">
            <a:avLst/>
          </a:prstGeom>
          <a:solidFill>
            <a:srgbClr val="DDEBDF"/>
          </a:solidFill>
          <a:ln>
            <a:solidFill>
              <a:srgbClr val="DDE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059935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4D3A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3995928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211C"/>
                </a:solidFill>
                <a:latin typeface="Aptos"/>
              </a:rPr>
              <a:t>Unsafe handling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3977639"/>
            <a:ext cx="4526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B665F"/>
                </a:solidFill>
                <a:latin typeface="Aptos"/>
              </a:rPr>
              <a:t>Glass, sharp objects and e-waste can create handling risks.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764024"/>
            <a:ext cx="310896" cy="310896"/>
          </a:xfrm>
          <a:prstGeom prst="roundRect">
            <a:avLst/>
          </a:prstGeom>
          <a:solidFill>
            <a:srgbClr val="DDEBDF"/>
          </a:solidFill>
          <a:ln>
            <a:solidFill>
              <a:srgbClr val="DDE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80974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4D3A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745736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211C"/>
                </a:solidFill>
                <a:latin typeface="Aptos"/>
              </a:rPr>
              <a:t>Lower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4727448"/>
            <a:ext cx="4526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B665F"/>
                </a:solidFill>
                <a:latin typeface="Aptos"/>
              </a:rPr>
              <a:t>Poor segregation reduces the amount of waste that can be recovered or recycled.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713232"/>
            <a:ext cx="352044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7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98755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6B4F"/>
                </a:solidFill>
                <a:latin typeface="Aptos"/>
              </a:rPr>
              <a:t>RELATED SDG GOALS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1463040"/>
            <a:ext cx="621792" cy="621792"/>
          </a:xfrm>
          <a:prstGeom prst="roundRect">
            <a:avLst/>
          </a:prstGeom>
          <a:solidFill>
            <a:srgbClr val="1F4D3A"/>
          </a:solidFill>
          <a:ln>
            <a:solidFill>
              <a:srgbClr val="1F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54696" y="160020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SDG 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1444752"/>
            <a:ext cx="2148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211C"/>
                </a:solidFill>
                <a:latin typeface="Aptos"/>
              </a:rPr>
              <a:t>Sustainable Cities and Communities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3648" y="1792224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65F"/>
                </a:solidFill>
                <a:latin typeface="Aptos"/>
              </a:rPr>
              <a:t>Supports cleaner and better-managed urban waste systems.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2606040"/>
            <a:ext cx="621792" cy="621792"/>
          </a:xfrm>
          <a:prstGeom prst="roundRect">
            <a:avLst/>
          </a:prstGeom>
          <a:solidFill>
            <a:srgbClr val="1F4D3A"/>
          </a:solidFill>
          <a:ln>
            <a:solidFill>
              <a:srgbClr val="1F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54696" y="274320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SDG 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2615184"/>
            <a:ext cx="2148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211C"/>
                </a:solidFill>
                <a:latin typeface="Aptos"/>
              </a:rPr>
              <a:t>Responsible Consumption and Production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3127248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5B665F"/>
                </a:solidFill>
                <a:latin typeface="Aptos"/>
              </a:rPr>
              <a:t>Promotes waste reduction, reuse and recycling through better segregation.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18120" y="3749039"/>
            <a:ext cx="621792" cy="621792"/>
          </a:xfrm>
          <a:prstGeom prst="roundRect">
            <a:avLst/>
          </a:prstGeom>
          <a:solidFill>
            <a:srgbClr val="1F4D3A"/>
          </a:solidFill>
          <a:ln>
            <a:solidFill>
              <a:srgbClr val="1F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54696" y="388620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SDG 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3648" y="3730752"/>
            <a:ext cx="2148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211C"/>
                </a:solidFill>
                <a:latin typeface="Aptos"/>
              </a:rPr>
              <a:t>Climate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13648" y="4078224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65F"/>
                </a:solidFill>
                <a:latin typeface="Aptos"/>
              </a:rPr>
              <a:t>Better resource recovery can reduce avoidable disposal and support sustainable practices.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5596128"/>
            <a:ext cx="10469880" cy="502920"/>
          </a:xfrm>
          <a:prstGeom prst="roundRect">
            <a:avLst/>
          </a:prstGeom>
          <a:solidFill>
            <a:srgbClr val="1F4D3A"/>
          </a:solidFill>
          <a:ln>
            <a:solidFill>
              <a:srgbClr val="1F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57150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Need: a simple system that helps users SORT, ORGANIZE and BOOK waste before pickup.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2453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65F"/>
                </a:solidFill>
                <a:latin typeface="Aptos"/>
              </a:rPr>
              <a:t>EcoMove addresses the problem through segregation guidance, pickup booking and organized transportation.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E6B4F"/>
                </a:solidFill>
              </a:rPr>
              <a:t>02 • SUSTAINABILITY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1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EcoMove supports sustainability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65F"/>
                </a:solidFill>
              </a:rPr>
              <a:t>The solution connects better source segregation with safer collection and higher-value recovery.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E0DFD7"/>
            </a:solidFill>
            <a:prstDash val="solid"/>
          </a:ln>
          <a:effectLst>
            <a:outerShdw sx="100000" sy="100000" kx="0" ky="0" algn="bl" rotWithShape="0" blurRad="19050" dist="762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31520" y="19476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4C9A6A"/>
          </a:solidFill>
          <a:ln w="12700">
            <a:solidFill>
              <a:srgbClr val="4C9A6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97053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7008" y="1956816"/>
            <a:ext cx="4407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211C"/>
                </a:solidFill>
              </a:rPr>
              <a:t>ENVIRONMENTAL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244144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65F"/>
                </a:solidFill>
              </a:rPr>
              <a:t>Less contamination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65F"/>
                </a:solidFill>
              </a:rPr>
              <a:t>Segregated waste is easier to direct toward recycling or appropriate processing.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6163056" y="178308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E0DFD7"/>
            </a:solidFill>
            <a:prstDash val="solid"/>
          </a:ln>
          <a:effectLst>
            <a:outerShdw sx="100000" sy="100000" kx="0" ky="0" algn="bl" rotWithShape="0" blurRad="19050" dist="762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327648" y="19476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27648" y="197053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03136" y="1956816"/>
            <a:ext cx="4407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211C"/>
                </a:solidFill>
              </a:rPr>
              <a:t>SOCIAL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45936" y="244144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65F"/>
                </a:solidFill>
              </a:rPr>
              <a:t>Easier participation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65F"/>
                </a:solidFill>
              </a:rPr>
              <a:t>Clear instructions reduce confusion for households preparing waste for pickup.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566928" y="3447288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E0DFD7"/>
            </a:solidFill>
            <a:prstDash val="solid"/>
          </a:ln>
          <a:effectLst>
            <a:outerShdw sx="100000" sy="100000" kx="0" ky="0" algn="bl" rotWithShape="0" blurRad="19050" dist="762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31520" y="36118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1520" y="363474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07008" y="3621024"/>
            <a:ext cx="4407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211C"/>
                </a:solidFill>
              </a:rPr>
              <a:t>OPERATIONAL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65F"/>
                </a:solidFill>
              </a:rPr>
              <a:t>Smoother collection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65F"/>
                </a:solidFill>
              </a:rPr>
              <a:t>Pre-sorted waste can be easier and safer to handle and transport.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6163056" y="3447288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E0DFD7"/>
            </a:solidFill>
            <a:prstDash val="solid"/>
          </a:ln>
          <a:effectLst>
            <a:outerShdw sx="100000" sy="100000" kx="0" ky="0" algn="bl" rotWithShape="0" blurRad="19050" dist="762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327648" y="36118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B5562D"/>
          </a:solidFill>
          <a:ln w="12700">
            <a:solidFill>
              <a:srgbClr val="B5562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327648" y="363474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03136" y="3621024"/>
            <a:ext cx="4407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211C"/>
                </a:solidFill>
              </a:rPr>
              <a:t>FUTURE-READY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45936" y="410565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65F"/>
                </a:solidFill>
              </a:rPr>
              <a:t>Scalable digital flow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65F"/>
                </a:solidFill>
              </a:rPr>
              <a:t>Tracking, analytics and route optimization can be added in a real deployment.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566928" y="5285232"/>
            <a:ext cx="10972800" cy="658368"/>
          </a:xfrm>
          <a:prstGeom prst="roundRect">
            <a:avLst>
              <a:gd name="adj" fmla="val 9722"/>
            </a:avLst>
          </a:prstGeom>
          <a:solidFill>
            <a:srgbClr val="DDEBDF"/>
          </a:solidFill>
          <a:ln w="12700">
            <a:solidFill>
              <a:srgbClr val="DDEBD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14400" y="5513832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D3A"/>
                </a:solidFill>
              </a:rPr>
              <a:t>Sustainability chain:  Segregate → Prepare → Collect → Transport → Process / Recycle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623620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7D877F"/>
                </a:solidFill>
              </a:rPr>
              <a:t>Source-derived design logic: the prototype explicitly frames segregation as a way to prevent contamination, improve safety and route waste to the right facility.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E6B4F"/>
                </a:solidFill>
              </a:rPr>
              <a:t>05 • FINAL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1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EcoMove workflow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65F"/>
                </a:solidFill>
              </a:rPr>
              <a:t>A simple end-to-end journey for the user and the collection team.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1993392" cy="21488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CDCD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67512" y="23042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9A6A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7512" y="267919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C"/>
                </a:solidFill>
              </a:rPr>
              <a:t>SORT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7512" y="3072384"/>
            <a:ext cx="16276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65F"/>
                </a:solidFill>
              </a:rPr>
              <a:t>Choose the waste category and separate it.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2496312" y="3090672"/>
            <a:ext cx="320040" cy="0"/>
          </a:xfrm>
          <a:prstGeom prst="line">
            <a:avLst/>
          </a:prstGeom>
          <a:noFill/>
          <a:ln w="22860">
            <a:solidFill>
              <a:srgbClr val="4C9A6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993392" cy="21488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CDCD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999232" y="23042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9A6A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99232" y="267919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C"/>
                </a:solidFill>
              </a:rPr>
              <a:t>PREPARE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99232" y="3072384"/>
            <a:ext cx="16276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65F"/>
                </a:solidFill>
              </a:rPr>
              <a:t>Clean, pack and label as needed.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828032" y="3090672"/>
            <a:ext cx="320040" cy="0"/>
          </a:xfrm>
          <a:prstGeom prst="line">
            <a:avLst/>
          </a:prstGeom>
          <a:noFill/>
          <a:ln w="22860">
            <a:solidFill>
              <a:srgbClr val="4C9A6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166360" y="2103120"/>
            <a:ext cx="1993392" cy="21488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CDCD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330952" y="23042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9A6A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30952" y="267919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C"/>
                </a:solidFill>
              </a:rPr>
              <a:t>BOOK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30952" y="3072384"/>
            <a:ext cx="16276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65F"/>
                </a:solidFill>
              </a:rPr>
              <a:t>Select address, date and time slot.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159752" y="3090672"/>
            <a:ext cx="320040" cy="0"/>
          </a:xfrm>
          <a:prstGeom prst="line">
            <a:avLst/>
          </a:prstGeom>
          <a:noFill/>
          <a:ln w="22860">
            <a:solidFill>
              <a:srgbClr val="4C9A6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498080" y="2103120"/>
            <a:ext cx="1993392" cy="21488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CDCD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662672" y="23042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9A6A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62672" y="267919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C"/>
                </a:solidFill>
              </a:rPr>
              <a:t>COLLECT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62672" y="3072384"/>
            <a:ext cx="16276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65F"/>
                </a:solidFill>
              </a:rPr>
              <a:t>Driver is assigned and pickup happens.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9491472" y="3090672"/>
            <a:ext cx="320040" cy="0"/>
          </a:xfrm>
          <a:prstGeom prst="line">
            <a:avLst/>
          </a:prstGeom>
          <a:noFill/>
          <a:ln w="22860">
            <a:solidFill>
              <a:srgbClr val="4C9A6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829800" y="2103120"/>
            <a:ext cx="1993392" cy="2148840"/>
          </a:xfrm>
          <a:prstGeom prst="roundRect">
            <a:avLst>
              <a:gd name="adj" fmla="val 3670"/>
            </a:avLst>
          </a:prstGeom>
          <a:solidFill>
            <a:srgbClr val="1F4D3A"/>
          </a:solidFill>
          <a:ln w="10160">
            <a:solidFill>
              <a:srgbClr val="1F4D3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994392" y="23042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DEBDF"/>
                </a:solidFill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994392" y="267919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COMPLETE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994392" y="3072384"/>
            <a:ext cx="16276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DEBDF"/>
                </a:solidFill>
              </a:rPr>
              <a:t>Waste is transported to the appropriate facility.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4050792" y="4718304"/>
            <a:ext cx="4069080" cy="310896"/>
          </a:xfrm>
          <a:prstGeom prst="roundRect">
            <a:avLst>
              <a:gd name="adj" fmla="val 44118"/>
            </a:avLst>
          </a:prstGeom>
          <a:solidFill>
            <a:srgbClr val="DDEBDF"/>
          </a:solidFill>
          <a:ln w="12700">
            <a:solidFill>
              <a:srgbClr val="DDEBD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096512" y="4796028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F4D3A"/>
                </a:solidFill>
              </a:rPr>
              <a:t>USER + COLLECTION TEAM WORKFLOW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097280" y="5257800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65F"/>
                </a:solidFill>
              </a:rPr>
              <a:t>The prototype supports this journey through connected pages and shared mock booking data.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/>
              <a:t>04 • WEBSITE DEMONSTRATION</a:t>
            </a:r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1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Website structure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65F"/>
                </a:solidFill>
              </a:rPr>
              <a:t>Main pages implemented in the current EcoMove prototype.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2331720" cy="310896"/>
          </a:xfrm>
          <a:prstGeom prst="roundRect">
            <a:avLst>
              <a:gd name="adj" fmla="val 44118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04088" y="183337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Home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3355848" y="1755648"/>
            <a:ext cx="2331720" cy="310896"/>
          </a:xfrm>
          <a:prstGeom prst="roundRect">
            <a:avLst>
              <a:gd name="adj" fmla="val 44118"/>
            </a:avLst>
          </a:prstGeom>
          <a:solidFill>
            <a:srgbClr val="DDEBDF"/>
          </a:solidFill>
          <a:ln w="12700">
            <a:solidFill>
              <a:srgbClr val="DDEBD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01568" y="183337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F4D3A"/>
                </a:solidFill>
              </a:rPr>
              <a:t>Book Pickup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6053328" y="1755648"/>
            <a:ext cx="2331720" cy="310896"/>
          </a:xfrm>
          <a:prstGeom prst="roundRect">
            <a:avLst>
              <a:gd name="adj" fmla="val 44118"/>
            </a:avLst>
          </a:prstGeom>
          <a:solidFill>
            <a:srgbClr val="DDEBDF"/>
          </a:solidFill>
          <a:ln w="12700">
            <a:solidFill>
              <a:srgbClr val="DDEBD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099048" y="183337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F4D3A"/>
                </a:solidFill>
              </a:rPr>
              <a:t>Waste Guide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8750808" y="1755648"/>
            <a:ext cx="2331720" cy="310896"/>
          </a:xfrm>
          <a:prstGeom prst="roundRect">
            <a:avLst>
              <a:gd name="adj" fmla="val 44118"/>
            </a:avLst>
          </a:prstGeom>
          <a:solidFill>
            <a:srgbClr val="DDEBDF"/>
          </a:solidFill>
          <a:ln w="12700">
            <a:solidFill>
              <a:srgbClr val="DDEBD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796528" y="183337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F4D3A"/>
                </a:solidFill>
              </a:rPr>
              <a:t>My Bookings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58368" y="2267712"/>
            <a:ext cx="2331720" cy="310896"/>
          </a:xfrm>
          <a:prstGeom prst="roundRect">
            <a:avLst>
              <a:gd name="adj" fmla="val 44118"/>
            </a:avLst>
          </a:prstGeom>
          <a:solidFill>
            <a:srgbClr val="DDEBDF"/>
          </a:solidFill>
          <a:ln w="12700">
            <a:solidFill>
              <a:srgbClr val="DDEBD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04088" y="2345436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F4D3A"/>
                </a:solidFill>
              </a:rPr>
              <a:t>Track Pickup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355848" y="2267712"/>
            <a:ext cx="2331720" cy="310896"/>
          </a:xfrm>
          <a:prstGeom prst="roundRect">
            <a:avLst>
              <a:gd name="adj" fmla="val 44118"/>
            </a:avLst>
          </a:prstGeom>
          <a:solidFill>
            <a:srgbClr val="DDEBDF"/>
          </a:solidFill>
          <a:ln w="12700">
            <a:solidFill>
              <a:srgbClr val="DDEBD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401568" y="2345436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F4D3A"/>
                </a:solidFill>
              </a:rPr>
              <a:t>Admin Dashboard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053328" y="2267712"/>
            <a:ext cx="2331720" cy="310896"/>
          </a:xfrm>
          <a:prstGeom prst="roundRect">
            <a:avLst>
              <a:gd name="adj" fmla="val 44118"/>
            </a:avLst>
          </a:prstGeom>
          <a:solidFill>
            <a:srgbClr val="DDEBDF"/>
          </a:solidFill>
          <a:ln w="12700">
            <a:solidFill>
              <a:srgbClr val="DDEBD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099048" y="2345436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F4D3A"/>
                </a:solidFill>
              </a:rPr>
              <a:t>About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658368" y="29992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C"/>
                </a:solidFill>
              </a:rPr>
              <a:t>Core prototype capabilities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8368" y="3429000"/>
            <a:ext cx="493776" cy="493776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58368" y="350215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35024" y="3456432"/>
            <a:ext cx="2011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6211C"/>
                </a:solidFill>
              </a:rPr>
              <a:t>Booking form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2990088" y="34564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65F"/>
                </a:solidFill>
              </a:rPr>
              <a:t>Validated fields + preparation checklist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6144768" y="3429000"/>
            <a:ext cx="493776" cy="493776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144768" y="350215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21424" y="3456432"/>
            <a:ext cx="2011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6211C"/>
                </a:solidFill>
              </a:rPr>
              <a:t>Local storage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8476488" y="34564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65F"/>
                </a:solidFill>
              </a:rPr>
              <a:t>Bookings can persist in the browser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658368" y="4178808"/>
            <a:ext cx="493776" cy="493776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58368" y="425196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35024" y="4206240"/>
            <a:ext cx="2011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6211C"/>
                </a:solidFill>
              </a:rPr>
              <a:t>Tracking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2990088" y="42062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65F"/>
                </a:solidFill>
              </a:rPr>
              <a:t>Search by Booking ID with status timeline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6144768" y="4178808"/>
            <a:ext cx="493776" cy="493776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144768" y="425196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21424" y="4206240"/>
            <a:ext cx="2011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6211C"/>
                </a:solidFill>
              </a:rPr>
              <a:t>Admin dashboard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8476488" y="42062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65F"/>
                </a:solidFill>
              </a:rPr>
              <a:t>Filter bookings and update status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658368" y="4928616"/>
            <a:ext cx="493776" cy="493776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58368" y="5001768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335024" y="4956048"/>
            <a:ext cx="2011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6211C"/>
                </a:solidFill>
              </a:rPr>
              <a:t>Responsive UI</a:t>
            </a:r>
            <a:endParaRPr lang="en-US" sz="1220" dirty="0"/>
          </a:p>
        </p:txBody>
      </p:sp>
      <p:sp>
        <p:nvSpPr>
          <p:cNvPr id="39" name="Text 37"/>
          <p:cNvSpPr/>
          <p:nvPr/>
        </p:nvSpPr>
        <p:spPr>
          <a:xfrm>
            <a:off x="2990088" y="49560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65F"/>
                </a:solidFill>
              </a:rPr>
              <a:t>Designed for desktop, tablet and mobile</a:t>
            </a:r>
            <a:endParaRPr lang="en-US" sz="1030" dirty="0"/>
          </a:p>
        </p:txBody>
      </p:sp>
      <p:sp>
        <p:nvSpPr>
          <p:cNvPr id="40" name="Text 38"/>
          <p:cNvSpPr/>
          <p:nvPr/>
        </p:nvSpPr>
        <p:spPr>
          <a:xfrm>
            <a:off x="566928" y="623620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7D877F"/>
                </a:solidFill>
              </a:rPr>
              <a:t>The current HTML prototype defines Home, Booking, Guide, My Bookings, Track, Admin and About views.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/>
              <a:t>05 • WEBSITE SCREENSHOTS</a:t>
            </a:r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1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Home + Waste Guide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65F"/>
                </a:solidFill>
              </a:rPr>
              <a:t>Prototype screens reconstructed from the current EcoMove implementation.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1430">
            <a:solidFill>
              <a:srgbClr val="D8D8D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6928" y="1737360"/>
            <a:ext cx="5486400" cy="292608"/>
          </a:xfrm>
          <a:prstGeom prst="rect">
            <a:avLst/>
          </a:prstGeom>
          <a:solidFill>
            <a:srgbClr val="EFEFEA"/>
          </a:solidFill>
          <a:ln w="12700">
            <a:solidFill>
              <a:srgbClr val="EFEFE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94944" y="1828800"/>
            <a:ext cx="91440" cy="91440"/>
          </a:xfrm>
          <a:prstGeom prst="ellipse">
            <a:avLst/>
          </a:prstGeom>
          <a:solidFill>
            <a:srgbClr val="C76B5D"/>
          </a:solidFill>
          <a:ln w="12700">
            <a:solidFill>
              <a:srgbClr val="C76B5D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77824" y="1828800"/>
            <a:ext cx="91440" cy="91440"/>
          </a:xfrm>
          <a:prstGeom prst="ellipse">
            <a:avLst/>
          </a:prstGeom>
          <a:solidFill>
            <a:srgbClr val="D5A54A"/>
          </a:solidFill>
          <a:ln w="12700">
            <a:solidFill>
              <a:srgbClr val="D5A54A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060704" y="1828800"/>
            <a:ext cx="91440" cy="91440"/>
          </a:xfrm>
          <a:prstGeom prst="ellipse">
            <a:avLst/>
          </a:prstGeom>
          <a:solidFill>
            <a:srgbClr val="77A76B"/>
          </a:solidFill>
          <a:ln w="12700">
            <a:solidFill>
              <a:srgbClr val="77A76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207008" y="1815084"/>
            <a:ext cx="4572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727A74"/>
                </a:solidFill>
              </a:rPr>
              <a:t>EcoMove — Home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804672" y="211226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D3A"/>
                </a:solidFill>
              </a:rPr>
              <a:t>Organize. Book. Recycle.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04672" y="244144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 waste pickup,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621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made easy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04672" y="31272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B665F"/>
                </a:solidFill>
              </a:rPr>
              <a:t>Separate your waste, book a pickup, and let us handle the transportation.</a:t>
            </a:r>
            <a:endParaRPr lang="en-US" sz="910" dirty="0"/>
          </a:p>
        </p:txBody>
      </p:sp>
      <p:sp>
        <p:nvSpPr>
          <p:cNvPr id="14" name="Shape 12"/>
          <p:cNvSpPr/>
          <p:nvPr/>
        </p:nvSpPr>
        <p:spPr>
          <a:xfrm>
            <a:off x="804672" y="3675888"/>
            <a:ext cx="1325880" cy="310896"/>
          </a:xfrm>
          <a:prstGeom prst="roundRect">
            <a:avLst>
              <a:gd name="adj" fmla="val 44118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50392" y="375361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Book a Pickup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2267712" y="3675888"/>
            <a:ext cx="1463040" cy="310896"/>
          </a:xfrm>
          <a:prstGeom prst="roundRect">
            <a:avLst>
              <a:gd name="adj" fmla="val 44118"/>
            </a:avLst>
          </a:prstGeom>
          <a:solidFill>
            <a:srgbClr val="DDEBDF"/>
          </a:solidFill>
          <a:ln w="12700">
            <a:solidFill>
              <a:srgbClr val="DDEBD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313432" y="3753612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F4D3A"/>
                </a:solidFill>
              </a:rPr>
              <a:t>Learn the Guide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804672" y="4187952"/>
            <a:ext cx="1417320" cy="411480"/>
          </a:xfrm>
          <a:prstGeom prst="roundRect">
            <a:avLst>
              <a:gd name="adj" fmla="val 11111"/>
            </a:avLst>
          </a:prstGeom>
          <a:solidFill>
            <a:srgbClr val="F6F7F3"/>
          </a:solidFill>
          <a:ln w="12700">
            <a:solidFill>
              <a:srgbClr val="E2E2D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77824" y="4297680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16211C"/>
                </a:solidFill>
              </a:rPr>
              <a:t>Easy Pickup Booking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2404872" y="4187952"/>
            <a:ext cx="1417320" cy="411480"/>
          </a:xfrm>
          <a:prstGeom prst="roundRect">
            <a:avLst>
              <a:gd name="adj" fmla="val 11111"/>
            </a:avLst>
          </a:prstGeom>
          <a:solidFill>
            <a:srgbClr val="F6F7F3"/>
          </a:solidFill>
          <a:ln w="12700">
            <a:solidFill>
              <a:srgbClr val="E2E2D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478024" y="4297680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16211C"/>
                </a:solidFill>
              </a:rPr>
              <a:t>Segregation Guide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804672" y="4718304"/>
            <a:ext cx="1417320" cy="411480"/>
          </a:xfrm>
          <a:prstGeom prst="roundRect">
            <a:avLst>
              <a:gd name="adj" fmla="val 11111"/>
            </a:avLst>
          </a:prstGeom>
          <a:solidFill>
            <a:srgbClr val="F6F7F3"/>
          </a:solidFill>
          <a:ln w="12700">
            <a:solidFill>
              <a:srgbClr val="E2E2D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77824" y="482803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16211C"/>
                </a:solidFill>
              </a:rPr>
              <a:t>Reliable Transport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2404872" y="4718304"/>
            <a:ext cx="1417320" cy="411480"/>
          </a:xfrm>
          <a:prstGeom prst="roundRect">
            <a:avLst>
              <a:gd name="adj" fmla="val 11111"/>
            </a:avLst>
          </a:prstGeom>
          <a:solidFill>
            <a:srgbClr val="F6F7F3"/>
          </a:solidFill>
          <a:ln w="12700">
            <a:solidFill>
              <a:srgbClr val="E2E2D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478024" y="482803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16211C"/>
                </a:solidFill>
              </a:rPr>
              <a:t>Track Pickup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6199632" y="1737360"/>
            <a:ext cx="5431536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1430">
            <a:solidFill>
              <a:srgbClr val="D8D8D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199632" y="1737360"/>
            <a:ext cx="5431536" cy="292608"/>
          </a:xfrm>
          <a:prstGeom prst="rect">
            <a:avLst/>
          </a:prstGeom>
          <a:solidFill>
            <a:srgbClr val="EFEFEA"/>
          </a:solidFill>
          <a:ln w="12700">
            <a:solidFill>
              <a:srgbClr val="EFEFEA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327648" y="1828800"/>
            <a:ext cx="91440" cy="91440"/>
          </a:xfrm>
          <a:prstGeom prst="ellipse">
            <a:avLst/>
          </a:prstGeom>
          <a:solidFill>
            <a:srgbClr val="C76B5D"/>
          </a:solidFill>
          <a:ln w="12700">
            <a:solidFill>
              <a:srgbClr val="C76B5D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510528" y="1828800"/>
            <a:ext cx="91440" cy="91440"/>
          </a:xfrm>
          <a:prstGeom prst="ellipse">
            <a:avLst/>
          </a:prstGeom>
          <a:solidFill>
            <a:srgbClr val="D5A54A"/>
          </a:solidFill>
          <a:ln w="12700">
            <a:solidFill>
              <a:srgbClr val="D5A54A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693408" y="1828800"/>
            <a:ext cx="91440" cy="91440"/>
          </a:xfrm>
          <a:prstGeom prst="ellipse">
            <a:avLst/>
          </a:prstGeom>
          <a:solidFill>
            <a:srgbClr val="77A76B"/>
          </a:solidFill>
          <a:ln w="12700">
            <a:solidFill>
              <a:srgbClr val="77A76B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839712" y="1815084"/>
            <a:ext cx="4517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727A74"/>
                </a:solidFill>
              </a:rPr>
              <a:t>EcoMove — Waste Guide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6428232" y="207568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1C"/>
                </a:solidFill>
              </a:rPr>
              <a:t>Know your waste, category by category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28232" y="2615184"/>
            <a:ext cx="14173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DCD3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547104" y="2752344"/>
            <a:ext cx="274320" cy="274320"/>
          </a:xfrm>
          <a:prstGeom prst="ellipse">
            <a:avLst/>
          </a:prstGeom>
          <a:solidFill>
            <a:srgbClr val="DDEBDF"/>
          </a:solidFill>
          <a:ln w="12700">
            <a:solidFill>
              <a:srgbClr val="DDEBD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547104" y="278892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3A"/>
                </a:solidFill>
              </a:rPr>
              <a:t>•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03720" y="2779776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F4D3A"/>
                </a:solidFill>
              </a:rPr>
              <a:t>WET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6547104" y="3090672"/>
            <a:ext cx="1124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5B665F"/>
                </a:solidFill>
              </a:rPr>
              <a:t>Leaf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8001000" y="2615184"/>
            <a:ext cx="14173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DCD3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8119872" y="2752344"/>
            <a:ext cx="274320" cy="274320"/>
          </a:xfrm>
          <a:prstGeom prst="ellipse">
            <a:avLst/>
          </a:prstGeom>
          <a:solidFill>
            <a:srgbClr val="DDEBDF"/>
          </a:solidFill>
          <a:ln w="12700">
            <a:solidFill>
              <a:srgbClr val="DDEBDF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119872" y="278892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3A"/>
                </a:solidFill>
              </a:rPr>
              <a:t>•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476488" y="2779776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F4D3A"/>
                </a:solidFill>
              </a:rPr>
              <a:t>PLASTIC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8119872" y="3090672"/>
            <a:ext cx="1124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5B665F"/>
                </a:solidFill>
              </a:rPr>
              <a:t>Bottle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9573768" y="2615184"/>
            <a:ext cx="14173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DCD3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9692640" y="2752344"/>
            <a:ext cx="274320" cy="274320"/>
          </a:xfrm>
          <a:prstGeom prst="ellipse">
            <a:avLst/>
          </a:prstGeom>
          <a:solidFill>
            <a:srgbClr val="DDEBDF"/>
          </a:solidFill>
          <a:ln w="12700">
            <a:solidFill>
              <a:srgbClr val="DDEBD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9692640" y="278892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3A"/>
                </a:solidFill>
              </a:rPr>
              <a:t>•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049256" y="2779776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F4D3A"/>
                </a:solidFill>
              </a:rPr>
              <a:t>PAPER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9692640" y="3090672"/>
            <a:ext cx="1124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5B665F"/>
                </a:solidFill>
              </a:rPr>
              <a:t>Paper</a:t>
            </a:r>
            <a:endParaRPr lang="en-US" sz="740" dirty="0"/>
          </a:p>
        </p:txBody>
      </p:sp>
      <p:sp>
        <p:nvSpPr>
          <p:cNvPr id="48" name="Shape 46"/>
          <p:cNvSpPr/>
          <p:nvPr/>
        </p:nvSpPr>
        <p:spPr>
          <a:xfrm>
            <a:off x="6428232" y="3730752"/>
            <a:ext cx="14173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DCD3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6547104" y="3867912"/>
            <a:ext cx="274320" cy="274320"/>
          </a:xfrm>
          <a:prstGeom prst="ellipse">
            <a:avLst/>
          </a:prstGeom>
          <a:solidFill>
            <a:srgbClr val="DDEBDF"/>
          </a:solidFill>
          <a:ln w="12700">
            <a:solidFill>
              <a:srgbClr val="DDEBDF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547104" y="3904488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3A"/>
                </a:solidFill>
              </a:rPr>
              <a:t>•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903720" y="3895344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F4D3A"/>
                </a:solidFill>
              </a:rPr>
              <a:t>GLASS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6547104" y="4206240"/>
            <a:ext cx="1124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5B665F"/>
                </a:solidFill>
              </a:rPr>
              <a:t>Glass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8001000" y="3730752"/>
            <a:ext cx="14173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DCD3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8119872" y="3867912"/>
            <a:ext cx="274320" cy="274320"/>
          </a:xfrm>
          <a:prstGeom prst="ellipse">
            <a:avLst/>
          </a:prstGeom>
          <a:solidFill>
            <a:srgbClr val="DDEBDF"/>
          </a:solidFill>
          <a:ln w="12700">
            <a:solidFill>
              <a:srgbClr val="DDEBDF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8119872" y="3904488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3A"/>
                </a:solidFill>
              </a:rPr>
              <a:t>•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476488" y="3895344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F4D3A"/>
                </a:solidFill>
              </a:rPr>
              <a:t>METAL</a:t>
            </a:r>
            <a:endParaRPr lang="en-US" sz="780" dirty="0"/>
          </a:p>
        </p:txBody>
      </p:sp>
      <p:sp>
        <p:nvSpPr>
          <p:cNvPr id="57" name="Text 55"/>
          <p:cNvSpPr/>
          <p:nvPr/>
        </p:nvSpPr>
        <p:spPr>
          <a:xfrm>
            <a:off x="8119872" y="4206240"/>
            <a:ext cx="1124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5B665F"/>
                </a:solidFill>
              </a:rPr>
              <a:t>Metal</a:t>
            </a:r>
            <a:endParaRPr lang="en-US" sz="740" dirty="0"/>
          </a:p>
        </p:txBody>
      </p:sp>
      <p:sp>
        <p:nvSpPr>
          <p:cNvPr id="58" name="Shape 56"/>
          <p:cNvSpPr/>
          <p:nvPr/>
        </p:nvSpPr>
        <p:spPr>
          <a:xfrm>
            <a:off x="9573768" y="3730752"/>
            <a:ext cx="14173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DCD3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9692640" y="3867912"/>
            <a:ext cx="274320" cy="274320"/>
          </a:xfrm>
          <a:prstGeom prst="ellipse">
            <a:avLst/>
          </a:prstGeom>
          <a:solidFill>
            <a:srgbClr val="DDEBDF"/>
          </a:solidFill>
          <a:ln w="12700">
            <a:solidFill>
              <a:srgbClr val="DDEBDF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9692640" y="3904488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3A"/>
                </a:solidFill>
              </a:rPr>
              <a:t>•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0049256" y="3895344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F4D3A"/>
                </a:solidFill>
              </a:rPr>
              <a:t>E-WASTE</a:t>
            </a:r>
            <a:endParaRPr lang="en-US" sz="780" dirty="0"/>
          </a:p>
        </p:txBody>
      </p:sp>
      <p:sp>
        <p:nvSpPr>
          <p:cNvPr id="62" name="Text 60"/>
          <p:cNvSpPr/>
          <p:nvPr/>
        </p:nvSpPr>
        <p:spPr>
          <a:xfrm>
            <a:off x="9692640" y="4206240"/>
            <a:ext cx="1124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5B665F"/>
                </a:solidFill>
              </a:rPr>
              <a:t>Device</a:t>
            </a:r>
            <a:endParaRPr lang="en-US" sz="740" dirty="0"/>
          </a:p>
        </p:txBody>
      </p:sp>
      <p:sp>
        <p:nvSpPr>
          <p:cNvPr id="63" name="Shape 61"/>
          <p:cNvSpPr/>
          <p:nvPr/>
        </p:nvSpPr>
        <p:spPr>
          <a:xfrm>
            <a:off x="6428232" y="4892040"/>
            <a:ext cx="4709160" cy="438912"/>
          </a:xfrm>
          <a:prstGeom prst="roundRect">
            <a:avLst>
              <a:gd name="adj" fmla="val 10417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6629400" y="5047488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Sort → Clean → Pack → Label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66928" y="623620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7D877F"/>
                </a:solidFill>
              </a:rPr>
              <a:t>The actual prototype includes category cards, preparation instructions, Do/Don’t guidance and a waste organization method.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/>
              <a:t>06 • WEBSITE SCREENSHOTS</a:t>
            </a:r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1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Booking + Tracking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65F"/>
                </a:solidFill>
              </a:rPr>
              <a:t>The website turns the problem into an actionable pickup flow.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19072"/>
            <a:ext cx="55778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1430">
            <a:solidFill>
              <a:srgbClr val="D8D8D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6928" y="1719072"/>
            <a:ext cx="5577840" cy="292608"/>
          </a:xfrm>
          <a:prstGeom prst="rect">
            <a:avLst/>
          </a:prstGeom>
          <a:solidFill>
            <a:srgbClr val="EFEFEA"/>
          </a:solidFill>
          <a:ln w="12700">
            <a:solidFill>
              <a:srgbClr val="EFEFE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94944" y="1810512"/>
            <a:ext cx="91440" cy="91440"/>
          </a:xfrm>
          <a:prstGeom prst="ellipse">
            <a:avLst/>
          </a:prstGeom>
          <a:solidFill>
            <a:srgbClr val="C76B5D"/>
          </a:solidFill>
          <a:ln w="12700">
            <a:solidFill>
              <a:srgbClr val="C76B5D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77824" y="1810512"/>
            <a:ext cx="91440" cy="91440"/>
          </a:xfrm>
          <a:prstGeom prst="ellipse">
            <a:avLst/>
          </a:prstGeom>
          <a:solidFill>
            <a:srgbClr val="D5A54A"/>
          </a:solidFill>
          <a:ln w="12700">
            <a:solidFill>
              <a:srgbClr val="D5A54A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060704" y="1810512"/>
            <a:ext cx="91440" cy="91440"/>
          </a:xfrm>
          <a:prstGeom prst="ellipse">
            <a:avLst/>
          </a:prstGeom>
          <a:solidFill>
            <a:srgbClr val="77A76B"/>
          </a:solidFill>
          <a:ln w="12700">
            <a:solidFill>
              <a:srgbClr val="77A76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207008" y="1796796"/>
            <a:ext cx="4663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727A74"/>
                </a:solidFill>
              </a:rPr>
              <a:t>EcoMove — Book Pickup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804672" y="2103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1C"/>
                </a:solidFill>
              </a:rPr>
              <a:t>Schedule a waste pickup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" y="2606040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5B665F"/>
                </a:solidFill>
              </a:rPr>
              <a:t>Full Name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804672" y="2770632"/>
            <a:ext cx="2148840" cy="329184"/>
          </a:xfrm>
          <a:prstGeom prst="roundRect">
            <a:avLst>
              <a:gd name="adj" fmla="val 8333"/>
            </a:avLst>
          </a:prstGeom>
          <a:solidFill>
            <a:srgbClr val="FBFBF8"/>
          </a:solidFill>
          <a:ln w="10160">
            <a:solidFill>
              <a:srgbClr val="D9D9D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" y="2871216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6211C"/>
                </a:solidFill>
              </a:rPr>
              <a:t>Priya Menon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3291840" y="2606040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5B665F"/>
                </a:solidFill>
              </a:rPr>
              <a:t>Phone Number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3291840" y="2770632"/>
            <a:ext cx="2148840" cy="329184"/>
          </a:xfrm>
          <a:prstGeom prst="roundRect">
            <a:avLst>
              <a:gd name="adj" fmla="val 8333"/>
            </a:avLst>
          </a:prstGeom>
          <a:solidFill>
            <a:srgbClr val="FBFBF8"/>
          </a:solidFill>
          <a:ln w="10160">
            <a:solidFill>
              <a:srgbClr val="D9D9D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383280" y="2871216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6211C"/>
                </a:solidFill>
              </a:rPr>
              <a:t>9847012345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804672" y="3319272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5B665F"/>
                </a:solidFill>
              </a:rPr>
              <a:t>Pickup Address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804672" y="3483864"/>
            <a:ext cx="2148840" cy="329184"/>
          </a:xfrm>
          <a:prstGeom prst="roundRect">
            <a:avLst>
              <a:gd name="adj" fmla="val 8333"/>
            </a:avLst>
          </a:prstGeom>
          <a:solidFill>
            <a:srgbClr val="FBFBF8"/>
          </a:solidFill>
          <a:ln w="10160">
            <a:solidFill>
              <a:srgbClr val="D9D9D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96112" y="3584448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6211C"/>
                </a:solidFill>
              </a:rPr>
              <a:t>14, Palm Grove Road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3291840" y="3319272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5B665F"/>
                </a:solidFill>
              </a:rPr>
              <a:t>Pickup Date</a:t>
            </a:r>
            <a:endParaRPr lang="en-US" sz="770" dirty="0"/>
          </a:p>
        </p:txBody>
      </p:sp>
      <p:sp>
        <p:nvSpPr>
          <p:cNvPr id="22" name="Shape 20"/>
          <p:cNvSpPr/>
          <p:nvPr/>
        </p:nvSpPr>
        <p:spPr>
          <a:xfrm>
            <a:off x="3291840" y="3483864"/>
            <a:ext cx="2148840" cy="329184"/>
          </a:xfrm>
          <a:prstGeom prst="roundRect">
            <a:avLst>
              <a:gd name="adj" fmla="val 8333"/>
            </a:avLst>
          </a:prstGeom>
          <a:solidFill>
            <a:srgbClr val="FBFBF8"/>
          </a:solidFill>
          <a:ln w="10160">
            <a:solidFill>
              <a:srgbClr val="D9D9D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383280" y="3584448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6211C"/>
                </a:solidFill>
              </a:rPr>
              <a:t>2026-09-20</a:t>
            </a:r>
            <a:endParaRPr lang="en-US" sz="760" dirty="0"/>
          </a:p>
        </p:txBody>
      </p:sp>
      <p:sp>
        <p:nvSpPr>
          <p:cNvPr id="24" name="Text 22"/>
          <p:cNvSpPr/>
          <p:nvPr/>
        </p:nvSpPr>
        <p:spPr>
          <a:xfrm>
            <a:off x="804672" y="4032504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5B665F"/>
                </a:solidFill>
              </a:rPr>
              <a:t>Time Slot</a:t>
            </a:r>
            <a:endParaRPr lang="en-US" sz="770" dirty="0"/>
          </a:p>
        </p:txBody>
      </p:sp>
      <p:sp>
        <p:nvSpPr>
          <p:cNvPr id="25" name="Shape 23"/>
          <p:cNvSpPr/>
          <p:nvPr/>
        </p:nvSpPr>
        <p:spPr>
          <a:xfrm>
            <a:off x="804672" y="4197096"/>
            <a:ext cx="2148840" cy="329184"/>
          </a:xfrm>
          <a:prstGeom prst="roundRect">
            <a:avLst>
              <a:gd name="adj" fmla="val 8333"/>
            </a:avLst>
          </a:prstGeom>
          <a:solidFill>
            <a:srgbClr val="FBFBF8"/>
          </a:solidFill>
          <a:ln w="10160">
            <a:solidFill>
              <a:srgbClr val="D9D9D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96112" y="4297680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6211C"/>
                </a:solidFill>
              </a:rPr>
              <a:t>10:00 AM – 12:00 PM</a:t>
            </a:r>
            <a:endParaRPr lang="en-US" sz="760" dirty="0"/>
          </a:p>
        </p:txBody>
      </p:sp>
      <p:sp>
        <p:nvSpPr>
          <p:cNvPr id="27" name="Text 25"/>
          <p:cNvSpPr/>
          <p:nvPr/>
        </p:nvSpPr>
        <p:spPr>
          <a:xfrm>
            <a:off x="3291840" y="4032504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5B665F"/>
                </a:solidFill>
              </a:rPr>
              <a:t>Waste Category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3291840" y="4197096"/>
            <a:ext cx="2148840" cy="329184"/>
          </a:xfrm>
          <a:prstGeom prst="roundRect">
            <a:avLst>
              <a:gd name="adj" fmla="val 8333"/>
            </a:avLst>
          </a:prstGeom>
          <a:solidFill>
            <a:srgbClr val="FBFBF8"/>
          </a:solidFill>
          <a:ln w="10160">
            <a:solidFill>
              <a:srgbClr val="D9D9D1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383280" y="4297680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6211C"/>
                </a:solidFill>
              </a:rPr>
              <a:t>Plastic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804672" y="5056632"/>
            <a:ext cx="4892040" cy="484632"/>
          </a:xfrm>
          <a:prstGeom prst="roundRect">
            <a:avLst>
              <a:gd name="adj" fmla="val 9434"/>
            </a:avLst>
          </a:prstGeom>
          <a:solidFill>
            <a:srgbClr val="DDEBDF"/>
          </a:solidFill>
          <a:ln w="12700">
            <a:solidFill>
              <a:srgbClr val="DDEBD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51560" y="5221224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4D3A"/>
                </a:solidFill>
              </a:rPr>
              <a:t>✓ Segregation checklist → Confirm Pickup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6355080" y="1719072"/>
            <a:ext cx="5276088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1430">
            <a:solidFill>
              <a:srgbClr val="D8D8D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355080" y="1719072"/>
            <a:ext cx="5276088" cy="292608"/>
          </a:xfrm>
          <a:prstGeom prst="rect">
            <a:avLst/>
          </a:prstGeom>
          <a:solidFill>
            <a:srgbClr val="EFEFEA"/>
          </a:solidFill>
          <a:ln w="12700">
            <a:solidFill>
              <a:srgbClr val="EFEFEA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483096" y="1810512"/>
            <a:ext cx="91440" cy="91440"/>
          </a:xfrm>
          <a:prstGeom prst="ellipse">
            <a:avLst/>
          </a:prstGeom>
          <a:solidFill>
            <a:srgbClr val="C76B5D"/>
          </a:solidFill>
          <a:ln w="12700">
            <a:solidFill>
              <a:srgbClr val="C76B5D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665976" y="1810512"/>
            <a:ext cx="91440" cy="91440"/>
          </a:xfrm>
          <a:prstGeom prst="ellipse">
            <a:avLst/>
          </a:prstGeom>
          <a:solidFill>
            <a:srgbClr val="D5A54A"/>
          </a:solidFill>
          <a:ln w="12700">
            <a:solidFill>
              <a:srgbClr val="D5A54A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848856" y="1810512"/>
            <a:ext cx="91440" cy="91440"/>
          </a:xfrm>
          <a:prstGeom prst="ellipse">
            <a:avLst/>
          </a:prstGeom>
          <a:solidFill>
            <a:srgbClr val="77A76B"/>
          </a:solidFill>
          <a:ln w="12700">
            <a:solidFill>
              <a:srgbClr val="77A76B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995160" y="1796796"/>
            <a:ext cx="4361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727A74"/>
                </a:solidFill>
              </a:rPr>
              <a:t>EcoMove — Track Pickup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6583680" y="21031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1C"/>
                </a:solidFill>
              </a:rPr>
              <a:t>Where’s my pickup?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583680" y="2542032"/>
            <a:ext cx="31089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D9D1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748272" y="2679192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6211C"/>
                </a:solidFill>
              </a:rPr>
              <a:t>EM-2026-00121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9921240" y="2587752"/>
            <a:ext cx="1133856" cy="310896"/>
          </a:xfrm>
          <a:prstGeom prst="roundRect">
            <a:avLst>
              <a:gd name="adj" fmla="val 44118"/>
            </a:avLst>
          </a:prstGeom>
          <a:solidFill>
            <a:srgbClr val="FCEFC7"/>
          </a:solidFill>
          <a:ln w="12700">
            <a:solidFill>
              <a:srgbClr val="FCEFC7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9966960" y="2665476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7A5B06"/>
                </a:solidFill>
              </a:rPr>
              <a:t>Out for Pickup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6583680" y="3401568"/>
            <a:ext cx="274320" cy="27432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6858000" y="3538728"/>
            <a:ext cx="640080" cy="0"/>
          </a:xfrm>
          <a:prstGeom prst="line">
            <a:avLst/>
          </a:prstGeom>
          <a:noFill/>
          <a:ln w="17780">
            <a:solidFill>
              <a:srgbClr val="1F4D3A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336792" y="38221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B665F"/>
                </a:solidFill>
              </a:rPr>
              <a:t>Booking Confirmed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7498080" y="3401568"/>
            <a:ext cx="274320" cy="27432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7772400" y="3538728"/>
            <a:ext cx="640080" cy="0"/>
          </a:xfrm>
          <a:prstGeom prst="line">
            <a:avLst/>
          </a:prstGeom>
          <a:noFill/>
          <a:ln w="17780">
            <a:solidFill>
              <a:srgbClr val="1F4D3A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251192" y="38221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B665F"/>
                </a:solidFill>
              </a:rPr>
              <a:t>Driver Assigned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8412480" y="3401568"/>
            <a:ext cx="274320" cy="27432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8686800" y="3538728"/>
            <a:ext cx="640080" cy="0"/>
          </a:xfrm>
          <a:prstGeom prst="line">
            <a:avLst/>
          </a:prstGeom>
          <a:noFill/>
          <a:ln w="17780">
            <a:solidFill>
              <a:srgbClr val="D3D5D0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8165592" y="38221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11C"/>
                </a:solidFill>
              </a:rPr>
              <a:t>Out for Pickup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9326880" y="3401568"/>
            <a:ext cx="274320" cy="274320"/>
          </a:xfrm>
          <a:prstGeom prst="ellipse">
            <a:avLst/>
          </a:prstGeom>
          <a:solidFill>
            <a:srgbClr val="D3D5D0"/>
          </a:solidFill>
          <a:ln w="12700">
            <a:solidFill>
              <a:srgbClr val="D3D5D0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9601200" y="3538728"/>
            <a:ext cx="640080" cy="0"/>
          </a:xfrm>
          <a:prstGeom prst="line">
            <a:avLst/>
          </a:prstGeom>
          <a:noFill/>
          <a:ln w="17780">
            <a:solidFill>
              <a:srgbClr val="D3D5D0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9079992" y="38221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B665F"/>
                </a:solidFill>
              </a:rPr>
              <a:t>Waste Collected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10241280" y="3401568"/>
            <a:ext cx="274320" cy="274320"/>
          </a:xfrm>
          <a:prstGeom prst="ellipse">
            <a:avLst/>
          </a:prstGeom>
          <a:solidFill>
            <a:srgbClr val="D3D5D0"/>
          </a:solidFill>
          <a:ln w="12700">
            <a:solidFill>
              <a:srgbClr val="D3D5D0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9994392" y="38221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B665F"/>
                </a:solidFill>
              </a:rPr>
              <a:t>Completed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6583680" y="484632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211C"/>
                </a:solidFill>
              </a:rPr>
              <a:t>Sample vehicle: EcoMove EW-05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6583680" y="5166360"/>
            <a:ext cx="4251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B665F"/>
                </a:solidFill>
              </a:rPr>
              <a:t>Sample driver: Divya • No live GPS in prototype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/>
              <a:t>07 • WEBSITE SCREENSHOTS</a:t>
            </a:r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1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Dashboard + Transportation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65F"/>
                </a:solidFill>
              </a:rPr>
              <a:t>A collection-side view complements the user experience.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19072"/>
            <a:ext cx="6720840" cy="4233672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1430">
            <a:solidFill>
              <a:srgbClr val="D8D8D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6928" y="1719072"/>
            <a:ext cx="6720840" cy="292608"/>
          </a:xfrm>
          <a:prstGeom prst="rect">
            <a:avLst/>
          </a:prstGeom>
          <a:solidFill>
            <a:srgbClr val="EFEFEA"/>
          </a:solidFill>
          <a:ln w="12700">
            <a:solidFill>
              <a:srgbClr val="EFEFE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94944" y="1810512"/>
            <a:ext cx="91440" cy="91440"/>
          </a:xfrm>
          <a:prstGeom prst="ellipse">
            <a:avLst/>
          </a:prstGeom>
          <a:solidFill>
            <a:srgbClr val="C76B5D"/>
          </a:solidFill>
          <a:ln w="12700">
            <a:solidFill>
              <a:srgbClr val="C76B5D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77824" y="1810512"/>
            <a:ext cx="91440" cy="91440"/>
          </a:xfrm>
          <a:prstGeom prst="ellipse">
            <a:avLst/>
          </a:prstGeom>
          <a:solidFill>
            <a:srgbClr val="D5A54A"/>
          </a:solidFill>
          <a:ln w="12700">
            <a:solidFill>
              <a:srgbClr val="D5A54A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060704" y="1810512"/>
            <a:ext cx="91440" cy="91440"/>
          </a:xfrm>
          <a:prstGeom prst="ellipse">
            <a:avLst/>
          </a:prstGeom>
          <a:solidFill>
            <a:srgbClr val="77A76B"/>
          </a:solidFill>
          <a:ln w="12700">
            <a:solidFill>
              <a:srgbClr val="77A76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207008" y="1796796"/>
            <a:ext cx="5806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727A74"/>
                </a:solidFill>
              </a:rPr>
              <a:t>EcoMove — Admin Dashboard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804672" y="20848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1C"/>
                </a:solidFill>
              </a:rPr>
              <a:t>Operations overview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" y="2487168"/>
            <a:ext cx="105156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0DFD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77824" y="2615184"/>
            <a:ext cx="905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B665F"/>
                </a:solidFill>
              </a:rPr>
              <a:t>Total Bookings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877824" y="2852928"/>
            <a:ext cx="9052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11C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29968" y="2487168"/>
            <a:ext cx="105156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0DFD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103120" y="2615184"/>
            <a:ext cx="905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B665F"/>
                </a:solidFill>
              </a:rPr>
              <a:t>Pending Pickups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2103120" y="2852928"/>
            <a:ext cx="9052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11C"/>
                </a:solidFill>
              </a:rPr>
              <a:t>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55264" y="2487168"/>
            <a:ext cx="105156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0DFD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328416" y="2615184"/>
            <a:ext cx="905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B665F"/>
                </a:solidFill>
              </a:rPr>
              <a:t>Pickups Today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328416" y="2852928"/>
            <a:ext cx="9052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11C"/>
                </a:solidFill>
              </a:rPr>
              <a:t>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0560" y="2487168"/>
            <a:ext cx="105156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0DFD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53712" y="2615184"/>
            <a:ext cx="905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B665F"/>
                </a:solidFill>
              </a:rPr>
              <a:t>Completed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4553712" y="2852928"/>
            <a:ext cx="9052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11C"/>
                </a:solidFill>
              </a:rPr>
              <a:t>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05856" y="2487168"/>
            <a:ext cx="105156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0DFD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779008" y="2615184"/>
            <a:ext cx="905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B665F"/>
                </a:solidFill>
              </a:rPr>
              <a:t>Waste Collected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5779008" y="2852928"/>
            <a:ext cx="9052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11C"/>
                </a:solidFill>
              </a:rPr>
              <a:t>12 kg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" y="3447288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5B665F"/>
                </a:solidFill>
              </a:rPr>
              <a:t>Booking ID</a:t>
            </a:r>
            <a:endParaRPr lang="en-US" sz="670" dirty="0"/>
          </a:p>
        </p:txBody>
      </p:sp>
      <p:sp>
        <p:nvSpPr>
          <p:cNvPr id="28" name="Text 26"/>
          <p:cNvSpPr/>
          <p:nvPr/>
        </p:nvSpPr>
        <p:spPr>
          <a:xfrm>
            <a:off x="1755648" y="3447288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5B665F"/>
                </a:solidFill>
              </a:rPr>
              <a:t>Customer</a:t>
            </a:r>
            <a:endParaRPr lang="en-US" sz="670" dirty="0"/>
          </a:p>
        </p:txBody>
      </p:sp>
      <p:sp>
        <p:nvSpPr>
          <p:cNvPr id="29" name="Text 27"/>
          <p:cNvSpPr/>
          <p:nvPr/>
        </p:nvSpPr>
        <p:spPr>
          <a:xfrm>
            <a:off x="2706624" y="3447288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5B665F"/>
                </a:solidFill>
              </a:rPr>
              <a:t>Waste Type</a:t>
            </a:r>
            <a:endParaRPr lang="en-US" sz="670" dirty="0"/>
          </a:p>
        </p:txBody>
      </p:sp>
      <p:sp>
        <p:nvSpPr>
          <p:cNvPr id="30" name="Text 28"/>
          <p:cNvSpPr/>
          <p:nvPr/>
        </p:nvSpPr>
        <p:spPr>
          <a:xfrm>
            <a:off x="3657600" y="3447288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5B665F"/>
                </a:solidFill>
              </a:rPr>
              <a:t>Qty</a:t>
            </a:r>
            <a:endParaRPr lang="en-US" sz="670" dirty="0"/>
          </a:p>
        </p:txBody>
      </p:sp>
      <p:sp>
        <p:nvSpPr>
          <p:cNvPr id="31" name="Text 29"/>
          <p:cNvSpPr/>
          <p:nvPr/>
        </p:nvSpPr>
        <p:spPr>
          <a:xfrm>
            <a:off x="4608576" y="3447288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5B665F"/>
                </a:solidFill>
              </a:rPr>
              <a:t>Date</a:t>
            </a:r>
            <a:endParaRPr lang="en-US" sz="670" dirty="0"/>
          </a:p>
        </p:txBody>
      </p:sp>
      <p:sp>
        <p:nvSpPr>
          <p:cNvPr id="32" name="Text 30"/>
          <p:cNvSpPr/>
          <p:nvPr/>
        </p:nvSpPr>
        <p:spPr>
          <a:xfrm>
            <a:off x="5559552" y="3447288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5B665F"/>
                </a:solidFill>
              </a:rPr>
              <a:t>Status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804672" y="3721608"/>
            <a:ext cx="877824" cy="0"/>
          </a:xfrm>
          <a:prstGeom prst="line">
            <a:avLst/>
          </a:prstGeom>
          <a:noFill/>
          <a:ln w="6350">
            <a:solidFill>
              <a:srgbClr val="ECECE6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04672" y="3840480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6211C"/>
                </a:solidFill>
              </a:rPr>
              <a:t>EM-2026-00118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1755648" y="3721608"/>
            <a:ext cx="877824" cy="0"/>
          </a:xfrm>
          <a:prstGeom prst="line">
            <a:avLst/>
          </a:prstGeom>
          <a:noFill/>
          <a:ln w="6350">
            <a:solidFill>
              <a:srgbClr val="ECECE6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755648" y="3840480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6211C"/>
                </a:solidFill>
              </a:rPr>
              <a:t>Priya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2706624" y="3721608"/>
            <a:ext cx="877824" cy="0"/>
          </a:xfrm>
          <a:prstGeom prst="line">
            <a:avLst/>
          </a:prstGeom>
          <a:noFill/>
          <a:ln w="6350">
            <a:solidFill>
              <a:srgbClr val="ECECE6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706624" y="3840480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6211C"/>
                </a:solidFill>
              </a:rPr>
              <a:t>Organic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3657600" y="3721608"/>
            <a:ext cx="877824" cy="0"/>
          </a:xfrm>
          <a:prstGeom prst="line">
            <a:avLst/>
          </a:prstGeom>
          <a:noFill/>
          <a:ln w="6350">
            <a:solidFill>
              <a:srgbClr val="ECECE6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657600" y="3840480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6211C"/>
                </a:solidFill>
              </a:rPr>
              <a:t>Med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4608576" y="3721608"/>
            <a:ext cx="877824" cy="0"/>
          </a:xfrm>
          <a:prstGeom prst="line">
            <a:avLst/>
          </a:prstGeom>
          <a:noFill/>
          <a:ln w="6350">
            <a:solidFill>
              <a:srgbClr val="ECECE6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608576" y="3840480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6211C"/>
                </a:solidFill>
              </a:rPr>
              <a:t>09-04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5559552" y="3721608"/>
            <a:ext cx="877824" cy="0"/>
          </a:xfrm>
          <a:prstGeom prst="line">
            <a:avLst/>
          </a:prstGeom>
          <a:noFill/>
          <a:ln w="6350">
            <a:solidFill>
              <a:srgbClr val="ECECE6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559552" y="3840480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F4D3A"/>
                </a:solidFill>
              </a:rPr>
              <a:t>Completed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804672" y="4215384"/>
            <a:ext cx="877824" cy="0"/>
          </a:xfrm>
          <a:prstGeom prst="line">
            <a:avLst/>
          </a:prstGeom>
          <a:noFill/>
          <a:ln w="6350">
            <a:solidFill>
              <a:srgbClr val="ECECE6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804672" y="4334256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6211C"/>
                </a:solidFill>
              </a:rPr>
              <a:t>EM-2026-00121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1755648" y="4215384"/>
            <a:ext cx="877824" cy="0"/>
          </a:xfrm>
          <a:prstGeom prst="line">
            <a:avLst/>
          </a:prstGeom>
          <a:noFill/>
          <a:ln w="6350">
            <a:solidFill>
              <a:srgbClr val="ECECE6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1755648" y="4334256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6211C"/>
                </a:solidFill>
              </a:rPr>
              <a:t>Rahul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2706624" y="4215384"/>
            <a:ext cx="877824" cy="0"/>
          </a:xfrm>
          <a:prstGeom prst="line">
            <a:avLst/>
          </a:prstGeom>
          <a:noFill/>
          <a:ln w="6350">
            <a:solidFill>
              <a:srgbClr val="ECECE6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2706624" y="4334256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6211C"/>
                </a:solidFill>
              </a:rPr>
              <a:t>E-waste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3657600" y="4215384"/>
            <a:ext cx="877824" cy="0"/>
          </a:xfrm>
          <a:prstGeom prst="line">
            <a:avLst/>
          </a:prstGeom>
          <a:noFill/>
          <a:ln w="6350">
            <a:solidFill>
              <a:srgbClr val="ECECE6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3657600" y="4334256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6211C"/>
                </a:solidFill>
              </a:rPr>
              <a:t>Small</a:t>
            </a:r>
            <a:endParaRPr lang="en-US" sz="680" dirty="0"/>
          </a:p>
        </p:txBody>
      </p:sp>
      <p:sp>
        <p:nvSpPr>
          <p:cNvPr id="53" name="Shape 51"/>
          <p:cNvSpPr/>
          <p:nvPr/>
        </p:nvSpPr>
        <p:spPr>
          <a:xfrm>
            <a:off x="4608576" y="4215384"/>
            <a:ext cx="877824" cy="0"/>
          </a:xfrm>
          <a:prstGeom prst="line">
            <a:avLst/>
          </a:prstGeom>
          <a:noFill/>
          <a:ln w="6350">
            <a:solidFill>
              <a:srgbClr val="ECECE6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4608576" y="4334256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6211C"/>
                </a:solidFill>
              </a:rPr>
              <a:t>09-08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5559552" y="4215384"/>
            <a:ext cx="877824" cy="0"/>
          </a:xfrm>
          <a:prstGeom prst="line">
            <a:avLst/>
          </a:prstGeom>
          <a:noFill/>
          <a:ln w="6350">
            <a:solidFill>
              <a:srgbClr val="ECECE6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5559552" y="4334256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F4D3A"/>
                </a:solidFill>
              </a:rPr>
              <a:t>Out</a:t>
            </a:r>
            <a:endParaRPr lang="en-US" sz="680" dirty="0"/>
          </a:p>
        </p:txBody>
      </p:sp>
      <p:sp>
        <p:nvSpPr>
          <p:cNvPr id="57" name="Shape 55"/>
          <p:cNvSpPr/>
          <p:nvPr/>
        </p:nvSpPr>
        <p:spPr>
          <a:xfrm>
            <a:off x="804672" y="4709160"/>
            <a:ext cx="877824" cy="0"/>
          </a:xfrm>
          <a:prstGeom prst="line">
            <a:avLst/>
          </a:prstGeom>
          <a:noFill/>
          <a:ln w="6350">
            <a:solidFill>
              <a:srgbClr val="ECECE6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804672" y="4828032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6211C"/>
                </a:solidFill>
              </a:rPr>
              <a:t>EM-2026-00124</a:t>
            </a:r>
            <a:endParaRPr lang="en-US" sz="680" dirty="0"/>
          </a:p>
        </p:txBody>
      </p:sp>
      <p:sp>
        <p:nvSpPr>
          <p:cNvPr id="59" name="Shape 57"/>
          <p:cNvSpPr/>
          <p:nvPr/>
        </p:nvSpPr>
        <p:spPr>
          <a:xfrm>
            <a:off x="1755648" y="4709160"/>
            <a:ext cx="877824" cy="0"/>
          </a:xfrm>
          <a:prstGeom prst="line">
            <a:avLst/>
          </a:prstGeom>
          <a:noFill/>
          <a:ln w="6350">
            <a:solidFill>
              <a:srgbClr val="ECECE6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1755648" y="4828032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6211C"/>
                </a:solidFill>
              </a:rPr>
              <a:t>Anjali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2706624" y="4709160"/>
            <a:ext cx="877824" cy="0"/>
          </a:xfrm>
          <a:prstGeom prst="line">
            <a:avLst/>
          </a:prstGeom>
          <a:noFill/>
          <a:ln w="6350">
            <a:solidFill>
              <a:srgbClr val="ECECE6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2706624" y="4828032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6211C"/>
                </a:solidFill>
              </a:rPr>
              <a:t>Plastic</a:t>
            </a:r>
            <a:endParaRPr lang="en-US" sz="680" dirty="0"/>
          </a:p>
        </p:txBody>
      </p:sp>
      <p:sp>
        <p:nvSpPr>
          <p:cNvPr id="63" name="Shape 61"/>
          <p:cNvSpPr/>
          <p:nvPr/>
        </p:nvSpPr>
        <p:spPr>
          <a:xfrm>
            <a:off x="3657600" y="4709160"/>
            <a:ext cx="877824" cy="0"/>
          </a:xfrm>
          <a:prstGeom prst="line">
            <a:avLst/>
          </a:prstGeom>
          <a:noFill/>
          <a:ln w="6350">
            <a:solidFill>
              <a:srgbClr val="ECECE6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3657600" y="4828032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6211C"/>
                </a:solidFill>
              </a:rPr>
              <a:t>Large</a:t>
            </a:r>
            <a:endParaRPr lang="en-US" sz="680" dirty="0"/>
          </a:p>
        </p:txBody>
      </p:sp>
      <p:sp>
        <p:nvSpPr>
          <p:cNvPr id="65" name="Shape 63"/>
          <p:cNvSpPr/>
          <p:nvPr/>
        </p:nvSpPr>
        <p:spPr>
          <a:xfrm>
            <a:off x="4608576" y="4709160"/>
            <a:ext cx="877824" cy="0"/>
          </a:xfrm>
          <a:prstGeom prst="line">
            <a:avLst/>
          </a:prstGeom>
          <a:noFill/>
          <a:ln w="6350">
            <a:solidFill>
              <a:srgbClr val="ECECE6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4608576" y="4828032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6211C"/>
                </a:solidFill>
              </a:rPr>
              <a:t>09-12</a:t>
            </a:r>
            <a:endParaRPr lang="en-US" sz="680" dirty="0"/>
          </a:p>
        </p:txBody>
      </p:sp>
      <p:sp>
        <p:nvSpPr>
          <p:cNvPr id="67" name="Shape 65"/>
          <p:cNvSpPr/>
          <p:nvPr/>
        </p:nvSpPr>
        <p:spPr>
          <a:xfrm>
            <a:off x="5559552" y="4709160"/>
            <a:ext cx="877824" cy="0"/>
          </a:xfrm>
          <a:prstGeom prst="line">
            <a:avLst/>
          </a:prstGeom>
          <a:noFill/>
          <a:ln w="6350">
            <a:solidFill>
              <a:srgbClr val="ECECE6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5559552" y="4828032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F4D3A"/>
                </a:solidFill>
              </a:rPr>
              <a:t>Assigned</a:t>
            </a:r>
            <a:endParaRPr lang="en-US" sz="680" dirty="0"/>
          </a:p>
        </p:txBody>
      </p:sp>
      <p:sp>
        <p:nvSpPr>
          <p:cNvPr id="69" name="Text 67"/>
          <p:cNvSpPr/>
          <p:nvPr/>
        </p:nvSpPr>
        <p:spPr>
          <a:xfrm>
            <a:off x="804672" y="546811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5B665F"/>
                </a:solidFill>
              </a:rPr>
              <a:t>Status changes update the shared prototype view.</a:t>
            </a:r>
            <a:endParaRPr lang="en-US" sz="780" dirty="0"/>
          </a:p>
        </p:txBody>
      </p:sp>
      <p:sp>
        <p:nvSpPr>
          <p:cNvPr id="70" name="Text 68"/>
          <p:cNvSpPr/>
          <p:nvPr/>
        </p:nvSpPr>
        <p:spPr>
          <a:xfrm>
            <a:off x="7635240" y="2057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C"/>
                </a:solidFill>
              </a:rPr>
              <a:t>Transportation</a:t>
            </a:r>
            <a:endParaRPr lang="en-US" sz="1500" dirty="0"/>
          </a:p>
        </p:txBody>
      </p:sp>
      <p:sp>
        <p:nvSpPr>
          <p:cNvPr id="71" name="Shape 69"/>
          <p:cNvSpPr/>
          <p:nvPr/>
        </p:nvSpPr>
        <p:spPr>
          <a:xfrm>
            <a:off x="7635240" y="2542032"/>
            <a:ext cx="385876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CDCD3"/>
            </a:solidFill>
            <a:prstDash val="solid"/>
          </a:ln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7799832" y="2706624"/>
            <a:ext cx="493776" cy="384048"/>
          </a:xfrm>
          <a:prstGeom prst="roundRect">
            <a:avLst>
              <a:gd name="adj" fmla="val 11905"/>
            </a:avLst>
          </a:prstGeom>
          <a:solidFill>
            <a:srgbClr val="DDEBDF"/>
          </a:solidFill>
          <a:ln w="12700">
            <a:solidFill>
              <a:srgbClr val="DDEBDF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7799832" y="2779776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D3A"/>
                </a:solidFill>
              </a:rPr>
              <a:t>▰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8476488" y="2688336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6211C"/>
                </a:solidFill>
              </a:rPr>
              <a:t>Mini Collection Vehicle</a:t>
            </a:r>
            <a:endParaRPr lang="en-US" sz="1040" dirty="0"/>
          </a:p>
        </p:txBody>
      </p:sp>
      <p:sp>
        <p:nvSpPr>
          <p:cNvPr id="75" name="Text 73"/>
          <p:cNvSpPr/>
          <p:nvPr/>
        </p:nvSpPr>
        <p:spPr>
          <a:xfrm>
            <a:off x="8476488" y="295351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65F"/>
                </a:solidFill>
              </a:rPr>
              <a:t>Residential pickups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635240" y="3502152"/>
            <a:ext cx="385876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CDCD3"/>
            </a:solidFill>
            <a:prstDash val="solid"/>
          </a:ln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7799832" y="3666744"/>
            <a:ext cx="493776" cy="384048"/>
          </a:xfrm>
          <a:prstGeom prst="roundRect">
            <a:avLst>
              <a:gd name="adj" fmla="val 11905"/>
            </a:avLst>
          </a:prstGeom>
          <a:solidFill>
            <a:srgbClr val="DDEBDF"/>
          </a:solidFill>
          <a:ln w="12700">
            <a:solidFill>
              <a:srgbClr val="DDEBDF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7799832" y="3739896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D3A"/>
                </a:solidFill>
              </a:rPr>
              <a:t>▰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8476488" y="3648456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6211C"/>
                </a:solidFill>
              </a:rPr>
              <a:t>Recycling Transport Vehicle</a:t>
            </a:r>
            <a:endParaRPr lang="en-US" sz="1040" dirty="0"/>
          </a:p>
        </p:txBody>
      </p:sp>
      <p:sp>
        <p:nvSpPr>
          <p:cNvPr id="80" name="Text 78"/>
          <p:cNvSpPr/>
          <p:nvPr/>
        </p:nvSpPr>
        <p:spPr>
          <a:xfrm>
            <a:off x="8476488" y="391363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65F"/>
                </a:solidFill>
              </a:rPr>
              <a:t>Paper, plastic, glass, metal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7635240" y="4462272"/>
            <a:ext cx="3858768" cy="749808"/>
          </a:xfrm>
          <a:prstGeom prst="roundRect">
            <a:avLst>
              <a:gd name="adj" fmla="val 7317"/>
            </a:avLst>
          </a:prstGeom>
          <a:solidFill>
            <a:srgbClr val="F3E1D6"/>
          </a:solidFill>
          <a:ln w="12700">
            <a:solidFill>
              <a:srgbClr val="E4C5B5"/>
            </a:solidFill>
            <a:prstDash val="solid"/>
          </a:ln>
        </p:spPr>
        <p:txBody>
          <a:bodyPr/>
          <a:p/>
        </p:txBody>
      </p:sp>
      <p:sp>
        <p:nvSpPr>
          <p:cNvPr id="82" name="Shape 80"/>
          <p:cNvSpPr/>
          <p:nvPr/>
        </p:nvSpPr>
        <p:spPr>
          <a:xfrm>
            <a:off x="7799832" y="4626864"/>
            <a:ext cx="493776" cy="384048"/>
          </a:xfrm>
          <a:prstGeom prst="roundRect">
            <a:avLst>
              <a:gd name="adj" fmla="val 11905"/>
            </a:avLst>
          </a:prstGeom>
          <a:solidFill>
            <a:srgbClr val="B5562D"/>
          </a:solidFill>
          <a:ln w="12700">
            <a:solidFill>
              <a:srgbClr val="B5562D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7799832" y="4700016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▰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8476488" y="4608576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6211C"/>
                </a:solidFill>
              </a:rPr>
              <a:t>E-Waste Transport</a:t>
            </a:r>
            <a:endParaRPr lang="en-US" sz="1040" dirty="0"/>
          </a:p>
        </p:txBody>
      </p:sp>
      <p:sp>
        <p:nvSpPr>
          <p:cNvPr id="85" name="Text 83"/>
          <p:cNvSpPr/>
          <p:nvPr/>
        </p:nvSpPr>
        <p:spPr>
          <a:xfrm>
            <a:off x="8476488" y="487375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65F"/>
                </a:solidFill>
              </a:rPr>
              <a:t>Dedicated e-waste handling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8549640" y="55778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5562D"/>
                </a:solidFill>
              </a:rPr>
              <a:t>Sample data only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/>
              <a:t>08 • FUTURE SCOPE</a:t>
            </a:r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1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can be added next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65F"/>
                </a:solidFill>
              </a:rPr>
              <a:t>The prototype is intentionally frontend-only; these additions would support a real deployment.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3200400" cy="310896"/>
          </a:xfrm>
          <a:prstGeom prst="roundRect">
            <a:avLst>
              <a:gd name="adj" fmla="val 44118"/>
            </a:avLst>
          </a:prstGeom>
          <a:solidFill>
            <a:srgbClr val="DDEBDF"/>
          </a:solidFill>
          <a:ln w="12700">
            <a:solidFill>
              <a:srgbClr val="DDEBD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04088" y="1906524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F4D3A"/>
                </a:solidFill>
              </a:rPr>
              <a:t>Real-time GPS tracking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4315968" y="1828800"/>
            <a:ext cx="3200400" cy="310896"/>
          </a:xfrm>
          <a:prstGeom prst="roundRect">
            <a:avLst>
              <a:gd name="adj" fmla="val 44118"/>
            </a:avLst>
          </a:prstGeom>
          <a:solidFill>
            <a:srgbClr val="DDEBDF"/>
          </a:solidFill>
          <a:ln w="12700">
            <a:solidFill>
              <a:srgbClr val="DDEBD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361688" y="1906524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F4D3A"/>
                </a:solidFill>
              </a:rPr>
              <a:t>Online payments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7973568" y="1828800"/>
            <a:ext cx="3200400" cy="310896"/>
          </a:xfrm>
          <a:prstGeom prst="roundRect">
            <a:avLst>
              <a:gd name="adj" fmla="val 44118"/>
            </a:avLst>
          </a:prstGeom>
          <a:solidFill>
            <a:srgbClr val="DDEBDF"/>
          </a:solidFill>
          <a:ln w="12700">
            <a:solidFill>
              <a:srgbClr val="DDEBD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019288" y="1906524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F4D3A"/>
                </a:solidFill>
              </a:rPr>
              <a:t>Notifications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658368" y="2395728"/>
            <a:ext cx="3200400" cy="310896"/>
          </a:xfrm>
          <a:prstGeom prst="roundRect">
            <a:avLst>
              <a:gd name="adj" fmla="val 44118"/>
            </a:avLst>
          </a:prstGeom>
          <a:solidFill>
            <a:srgbClr val="DDEBDF"/>
          </a:solidFill>
          <a:ln w="12700">
            <a:solidFill>
              <a:srgbClr val="DDEBD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04088" y="2473452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F4D3A"/>
                </a:solidFill>
              </a:rPr>
              <a:t>Municipal service integration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315968" y="2395728"/>
            <a:ext cx="3200400" cy="310896"/>
          </a:xfrm>
          <a:prstGeom prst="roundRect">
            <a:avLst>
              <a:gd name="adj" fmla="val 44118"/>
            </a:avLst>
          </a:prstGeom>
          <a:solidFill>
            <a:srgbClr val="F3E1D6"/>
          </a:solidFill>
          <a:ln w="12700">
            <a:solidFill>
              <a:srgbClr val="F3E1D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361688" y="2473452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B5562D"/>
                </a:solidFill>
              </a:rPr>
              <a:t>AI waste classification from images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7973568" y="2395728"/>
            <a:ext cx="3200400" cy="310896"/>
          </a:xfrm>
          <a:prstGeom prst="roundRect">
            <a:avLst>
              <a:gd name="adj" fmla="val 44118"/>
            </a:avLst>
          </a:prstGeom>
          <a:solidFill>
            <a:srgbClr val="DDEBDF"/>
          </a:solidFill>
          <a:ln w="12700">
            <a:solidFill>
              <a:srgbClr val="DDEBD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19288" y="2473452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F4D3A"/>
                </a:solidFill>
              </a:rPr>
              <a:t>Route optimization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58368" y="2962656"/>
            <a:ext cx="3200400" cy="310896"/>
          </a:xfrm>
          <a:prstGeom prst="roundRect">
            <a:avLst>
              <a:gd name="adj" fmla="val 44118"/>
            </a:avLst>
          </a:prstGeom>
          <a:solidFill>
            <a:srgbClr val="DDEBDF"/>
          </a:solidFill>
          <a:ln w="12700">
            <a:solidFill>
              <a:srgbClr val="DDEBD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04088" y="3040380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F4D3A"/>
                </a:solidFill>
              </a:rPr>
              <a:t>Analytics for waste organizations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58368" y="4069080"/>
            <a:ext cx="10835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0DFD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96112" y="433425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1C"/>
                </a:solidFill>
              </a:rPr>
              <a:t>Current prototype limits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88920" y="42976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65F"/>
                </a:solidFill>
              </a:rPr>
              <a:t>No real backend • No live GPS • No real payments • Sample drivers, vehicles, bookings and statistics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6112" y="4782312"/>
            <a:ext cx="10012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D3A"/>
                </a:solidFill>
              </a:rPr>
              <a:t>Next step: connect the same interface to a secure backend and verified collection partners.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623620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7D877F"/>
                </a:solidFill>
              </a:rPr>
              <a:t>The current About page lists these future improvements and states that the present site is a college project prototype using mock data.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4688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F4D3A"/>
                </a:solidFill>
                <a:latin typeface="Aptos Display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337560"/>
            <a:ext cx="8531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5B665F"/>
                </a:solidFill>
                <a:latin typeface="Aptos"/>
              </a:rPr>
              <a:t>EcoMove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College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EcoMove – Smart Waste Pickup &amp; Transportation System</dc:title>
  <dc:subject>EcoMove Waste Pickup &amp; Transportation System</dc:subject>
  <dc:creator>EcoMove Team</dc:creator>
  <cp:lastModifiedBy>EcoMove Team</cp:lastModifiedBy>
  <cp:revision>1</cp:revision>
  <dcterms:created xsi:type="dcterms:W3CDTF">2026-09-15T11:57:06Z</dcterms:created>
  <dcterms:modified xsi:type="dcterms:W3CDTF">2026-09-15T11:57:06Z</dcterms:modified>
</cp:coreProperties>
</file>